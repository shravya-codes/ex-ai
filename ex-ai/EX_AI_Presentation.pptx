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2000" b="1" spc="2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241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Explainable AI-Driven User Behavior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Detection Using Random Forest Classifier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Final Year Project  ·  Department of Computer Applications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5212080" cy="1005840"/>
          </a:xfrm>
          <a:prstGeom prst="roundRect">
            <a:avLst>
              <a:gd name="adj" fmla="val 5455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04748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
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SHRAVYA  </a:t>
            </a:r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(U18BH23S0043)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4892040"/>
            <a:ext cx="5212080" cy="1005840"/>
          </a:xfrm>
          <a:prstGeom prst="roundRect">
            <a:avLst>
              <a:gd name="adj" fmla="val 5455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504748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
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Amrutha Kakkoth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554480"/>
            <a:ext cx="82296" cy="82296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STATUS: ONLINE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security tools can't see behavioral threats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and signature-based systems catch known attack patterns — but insider threats, credential stuffing, and account hijacking often look like "normal" traffic on the surface. The only signal is in behavior.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6949440" cy="777240"/>
          </a:xfrm>
          <a:prstGeom prst="roundRect">
            <a:avLst>
              <a:gd name="adj" fmla="val 7059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081528"/>
            <a:ext cx="82296" cy="82296"/>
          </a:xfrm>
          <a:prstGeom prst="ellipse">
            <a:avLst/>
          </a:prstGeom>
          <a:solidFill>
            <a:srgbClr val="FF3B5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8163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Repeated login attempts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312724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/ credential stuffing signal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6949440" cy="777240"/>
          </a:xfrm>
          <a:prstGeom prst="roundRect">
            <a:avLst>
              <a:gd name="adj" fmla="val 7059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995928"/>
            <a:ext cx="82296" cy="82296"/>
          </a:xfrm>
          <a:prstGeom prst="ellipse">
            <a:avLst/>
          </a:prstGeom>
          <a:solidFill>
            <a:srgbClr val="FF3B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307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Abnormal session duration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404164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after unauthorized access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6949440" cy="777240"/>
          </a:xfrm>
          <a:prstGeom prst="roundRect">
            <a:avLst>
              <a:gd name="adj" fmla="val 7059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910328"/>
            <a:ext cx="82296" cy="82296"/>
          </a:xfrm>
          <a:prstGeom prst="ellipse">
            <a:avLst/>
          </a:prstGeom>
          <a:solidFill>
            <a:srgbClr val="FF3B5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6451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Excessive page access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495604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scraping or reconnaissance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6949440" cy="777240"/>
          </a:xfrm>
          <a:prstGeom prst="roundRect">
            <a:avLst>
              <a:gd name="adj" fmla="val 7059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824728"/>
            <a:ext cx="82296" cy="82296"/>
          </a:xfrm>
          <a:prstGeom prst="ellipse">
            <a:avLst/>
          </a:prstGeom>
          <a:solidFill>
            <a:srgbClr val="FF3B5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5595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failed-login count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587044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attacks against accounts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1508760"/>
            <a:ext cx="3840480" cy="4572000"/>
          </a:xfrm>
          <a:prstGeom prst="roundRect">
            <a:avLst>
              <a:gd name="adj" fmla="val 1429"/>
            </a:avLst>
          </a:prstGeom>
          <a:solidFill>
            <a:srgbClr val="141C26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21488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82%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breaches involve a human / behavioral element, not just a technical exploit.</a:t>
            </a:r>
            <a:endParaRPr lang="en-US" sz="4000" dirty="0"/>
          </a:p>
        </p:txBody>
      </p:sp>
      <p:sp>
        <p:nvSpPr>
          <p:cNvPr id="24" name="Shape 22"/>
          <p:cNvSpPr/>
          <p:nvPr/>
        </p:nvSpPr>
        <p:spPr>
          <a:xfrm>
            <a:off x="8046720" y="3794760"/>
            <a:ext cx="3291840" cy="0"/>
          </a:xfrm>
          <a:prstGeom prst="line">
            <a:avLst/>
          </a:prstGeom>
          <a:noFill/>
          <a:ln w="12700">
            <a:solidFill>
              <a:srgbClr val="222C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4023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cannot scale to thousands of sessions per day — this project automates that judgment call.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system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64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suspicious user behavior automatically using Machine Learning.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64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243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Normal vs Suspicious users with a Random Forest Classifier.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764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6676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243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deviation score measuring how abnormal a session 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67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4361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Prioritize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7274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Low / Medium / High risk levels for triage.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70332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867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4361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7274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Explainable AI to show why a prediction was made.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70332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3867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66760" y="4361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7274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everything through a live security dashboard.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raw session data to a live verdict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417320" cy="1051560"/>
          </a:xfrm>
          <a:prstGeom prst="roundRect">
            <a:avLst>
              <a:gd name="adj" fmla="val 5217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0358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65960" y="3451860"/>
            <a:ext cx="190500" cy="0"/>
          </a:xfrm>
          <a:prstGeom prst="line">
            <a:avLst/>
          </a:prstGeom>
          <a:noFill/>
          <a:ln w="19050">
            <a:solidFill>
              <a:srgbClr val="5B66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56460" y="2926080"/>
            <a:ext cx="1417320" cy="1051560"/>
          </a:xfrm>
          <a:prstGeom prst="roundRect">
            <a:avLst>
              <a:gd name="adj" fmla="val 5217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02180" y="30358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73780" y="3451860"/>
            <a:ext cx="190500" cy="0"/>
          </a:xfrm>
          <a:prstGeom prst="line">
            <a:avLst/>
          </a:prstGeom>
          <a:noFill/>
          <a:ln w="19050">
            <a:solidFill>
              <a:srgbClr val="5B66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64280" y="2926080"/>
            <a:ext cx="1417320" cy="1051560"/>
          </a:xfrm>
          <a:prstGeom prst="roundRect">
            <a:avLst>
              <a:gd name="adj" fmla="val 5217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0000" y="30358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81600" y="3451860"/>
            <a:ext cx="190500" cy="0"/>
          </a:xfrm>
          <a:prstGeom prst="line">
            <a:avLst/>
          </a:prstGeom>
          <a:noFill/>
          <a:ln w="19050">
            <a:solidFill>
              <a:srgbClr val="5B66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72100" y="2926080"/>
            <a:ext cx="1417320" cy="1051560"/>
          </a:xfrm>
          <a:prstGeom prst="roundRect">
            <a:avLst>
              <a:gd name="adj" fmla="val 5217"/>
            </a:avLst>
          </a:prstGeom>
          <a:solidFill>
            <a:srgbClr val="0A3D2E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7820" y="30358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(Random Forest)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89420" y="3451860"/>
            <a:ext cx="190500" cy="0"/>
          </a:xfrm>
          <a:prstGeom prst="line">
            <a:avLst/>
          </a:prstGeom>
          <a:noFill/>
          <a:ln w="19050">
            <a:solidFill>
              <a:srgbClr val="5B66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79920" y="2926080"/>
            <a:ext cx="1417320" cy="1051560"/>
          </a:xfrm>
          <a:prstGeom prst="roundRect">
            <a:avLst>
              <a:gd name="adj" fmla="val 5217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5640" y="30358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97240" y="3451860"/>
            <a:ext cx="190500" cy="0"/>
          </a:xfrm>
          <a:prstGeom prst="line">
            <a:avLst/>
          </a:prstGeom>
          <a:noFill/>
          <a:ln w="19050">
            <a:solidFill>
              <a:srgbClr val="5B66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87740" y="2926080"/>
            <a:ext cx="1417320" cy="1051560"/>
          </a:xfrm>
          <a:prstGeom prst="roundRect">
            <a:avLst>
              <a:gd name="adj" fmla="val 5217"/>
            </a:avLst>
          </a:prstGeom>
          <a:solidFill>
            <a:srgbClr val="0A3D2E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3460" y="30358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(XAI)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05060" y="3451860"/>
            <a:ext cx="190500" cy="0"/>
          </a:xfrm>
          <a:prstGeom prst="line">
            <a:avLst/>
          </a:prstGeom>
          <a:noFill/>
          <a:ln w="19050">
            <a:solidFill>
              <a:srgbClr val="5B667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195560" y="2926080"/>
            <a:ext cx="1417320" cy="1051560"/>
          </a:xfrm>
          <a:prstGeom prst="roundRect">
            <a:avLst>
              <a:gd name="adj" fmla="val 5217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0" y="30358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(Flask UI)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15544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features — login_attempts, session_duration, pages_accessed, failed_logins — flow through preprocessing and scaling into a Random Forest Classifier. Predictions are paired with deviation scoring, risk classification and permutation-importance explainability, then served live through a Flask web dashboard.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behavioral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BEHAVIORAL 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login_attempts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authentication activity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session_duration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the user session, in minutes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6210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pages_accessed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913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of browsing / access behavior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3342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failed_logins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6268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failed authentication attempts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065776"/>
            <a:ext cx="4663440" cy="0"/>
          </a:xfrm>
          <a:prstGeom prst="line">
            <a:avLst/>
          </a:prstGeom>
          <a:noFill/>
          <a:ln w="12700">
            <a:solidFill>
              <a:srgbClr val="222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303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sessions, labeled Normal / Suspicious — matching the schema of the original Kaggle-style dataset.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1600200"/>
            <a:ext cx="5623560" cy="4480560"/>
          </a:xfrm>
          <a:prstGeom prst="roundRect">
            <a:avLst>
              <a:gd name="adj" fmla="val 1224"/>
            </a:avLst>
          </a:prstGeom>
          <a:solidFill>
            <a:srgbClr val="141C26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DISTRIBUTION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286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319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26364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 USERS  ·  79.8%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8240" y="2286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3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7782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SUSPICIOUS USERS  ·  20.2%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4114800"/>
            <a:ext cx="4013302" cy="32004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76942" y="4114800"/>
            <a:ext cx="1015898" cy="320040"/>
          </a:xfrm>
          <a:prstGeom prst="rect">
            <a:avLst/>
          </a:prstGeom>
          <a:solidFill>
            <a:srgbClr val="FF3B5C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4937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duplicate check, missing-value check (0 found), feature selection, StandardScaler normalization before training.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Random Forest Classifier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builds many decision trees on random subsets of data and averages their output. That ensemble approach reduces overfitting and handles mixed-scale behavioral features reliably without heavy tuning — a strong, explainable baseline for a first cybersecurity ML classifier.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3300984"/>
            <a:ext cx="82296" cy="82296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00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classification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758184"/>
            <a:ext cx="82296" cy="82296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657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vs. a single tree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4215384"/>
            <a:ext cx="82296" cy="82296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148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behavioral data efficiently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672584"/>
            <a:ext cx="82296" cy="82296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5720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anomaly detection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1554480"/>
            <a:ext cx="4389120" cy="4572000"/>
          </a:xfrm>
          <a:prstGeom prst="roundRect">
            <a:avLst>
              <a:gd name="adj" fmla="val 1250"/>
            </a:avLst>
          </a:prstGeom>
          <a:solidFill>
            <a:srgbClr val="141C26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CONFIG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354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0" y="2578608"/>
            <a:ext cx="3931920" cy="0"/>
          </a:xfrm>
          <a:prstGeom prst="line">
            <a:avLst/>
          </a:prstGeom>
          <a:noFill/>
          <a:ln w="9525">
            <a:solidFill>
              <a:srgbClr val="222C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3544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trees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3145536"/>
            <a:ext cx="3931920" cy="0"/>
          </a:xfrm>
          <a:prstGeom prst="line">
            <a:avLst/>
          </a:prstGeom>
          <a:noFill/>
          <a:ln w="9525">
            <a:solidFill>
              <a:srgbClr val="222C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3328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35440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3712464"/>
            <a:ext cx="3931920" cy="0"/>
          </a:xfrm>
          <a:prstGeom prst="line">
            <a:avLst/>
          </a:prstGeom>
          <a:noFill/>
          <a:ln w="9525">
            <a:solidFill>
              <a:srgbClr val="222C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38953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38953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/ 20%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4279392"/>
            <a:ext cx="3931920" cy="0"/>
          </a:xfrm>
          <a:prstGeom prst="line">
            <a:avLst/>
          </a:prstGeom>
          <a:noFill/>
          <a:ln w="9525">
            <a:solidFill>
              <a:srgbClr val="222C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5440" y="44622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4846320"/>
            <a:ext cx="3931920" cy="0"/>
          </a:xfrm>
          <a:prstGeom prst="line">
            <a:avLst/>
          </a:prstGeom>
          <a:noFill/>
          <a:ln w="9525">
            <a:solidFill>
              <a:srgbClr val="222C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5029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3544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0" y="5413248"/>
            <a:ext cx="3931920" cy="0"/>
          </a:xfrm>
          <a:prstGeom prst="line">
            <a:avLst/>
          </a:prstGeom>
          <a:noFill/>
          <a:ln w="9525">
            <a:solidFill>
              <a:srgbClr val="222C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performance on unseen data</a:t>
            </a:r>
            <a:endParaRPr lang="en-US" sz="3000" dirty="0"/>
          </a:p>
        </p:txBody>
      </p:sp>
      <p:pic>
        <p:nvPicPr>
          <p:cNvPr id="4" name="Image 0" descr="ppt_asse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9377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600200"/>
            <a:ext cx="5852160" cy="4206240"/>
          </a:xfrm>
          <a:prstGeom prst="roundRect">
            <a:avLst>
              <a:gd name="adj" fmla="val 1304"/>
            </a:avLst>
          </a:prstGeom>
          <a:solidFill>
            <a:srgbClr val="141C26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 REPORT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3504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5528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33272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2542032"/>
            <a:ext cx="5394960" cy="0"/>
          </a:xfrm>
          <a:prstGeom prst="line">
            <a:avLst/>
          </a:prstGeom>
          <a:noFill/>
          <a:ln w="12700">
            <a:solidFill>
              <a:srgbClr val="222C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5528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93.9%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33272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96.9%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504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Suspicious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5528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77.8%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3272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87.5%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3504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Avg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5528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95.3%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95.0%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33272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94.8%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4114800"/>
            <a:ext cx="5394960" cy="0"/>
          </a:xfrm>
          <a:prstGeom prst="line">
            <a:avLst/>
          </a:prstGeom>
          <a:noFill/>
          <a:ln w="12700">
            <a:solidFill>
              <a:srgbClr val="222C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0" y="4343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95.0%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60350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 MODEL ACCURACY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relationships &amp; risk separation</a:t>
            </a:r>
            <a:endParaRPr lang="en-US" sz="3000" dirty="0"/>
          </a:p>
        </p:txBody>
      </p:sp>
      <p:pic>
        <p:nvPicPr>
          <p:cNvPr id="4" name="Image 0" descr="ppt_asset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4480560"/>
          </a:xfrm>
          <a:prstGeom prst="rect">
            <a:avLst/>
          </a:prstGeom>
        </p:spPr>
      </p:pic>
      <p:pic>
        <p:nvPicPr>
          <p:cNvPr id="5" name="Image 1" descr="ppt_assets/risk_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39496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features drive a prediction?</a:t>
            </a:r>
            <a:endParaRPr lang="en-US" sz="3000" dirty="0"/>
          </a:p>
        </p:txBody>
      </p:sp>
      <p:pic>
        <p:nvPicPr>
          <p:cNvPr id="4" name="Image 0" descr="ppt_asset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58368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600200"/>
            <a:ext cx="4206240" cy="4480560"/>
          </a:xfrm>
          <a:prstGeom prst="roundRect">
            <a:avLst>
              <a:gd name="adj" fmla="val 1304"/>
            </a:avLst>
          </a:prstGeom>
          <a:solidFill>
            <a:srgbClr val="141C26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PERMUTATION IMPORTANCE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80960" y="21945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models behave like black boxes. This project uses permutation importance — a model-agnostic Explainable AI technique — to measure how much accuracy drops when a feature is shuffled. A bigger drop means the model relies on that feature more heavily.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3566160" cy="0"/>
          </a:xfrm>
          <a:prstGeom prst="line">
            <a:avLst/>
          </a:prstGeom>
          <a:noFill/>
          <a:ln w="12700">
            <a:solidFill>
              <a:srgbClr val="222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44805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pages_accessed and session_duration show the strongest influence on this dataset's predictions.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real, live security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Colab widget — a full Flask web app with real-time predictions, styled as an actual SOC monitoring tool.</a:t>
            </a:r>
            <a:endParaRPr lang="en-US" sz="1300" dirty="0"/>
          </a:p>
        </p:txBody>
      </p:sp>
      <p:pic>
        <p:nvPicPr>
          <p:cNvPr id="5" name="Image 0" descr="ppt_asse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7040880" cy="46908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737360"/>
            <a:ext cx="3794760" cy="2240280"/>
          </a:xfrm>
          <a:prstGeom prst="roundRect">
            <a:avLst>
              <a:gd name="adj" fmla="val 2449"/>
            </a:avLst>
          </a:prstGeom>
          <a:solidFill>
            <a:srgbClr val="141C26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22860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animated threat feed, risk distribution, top suspicious users — ranked by deviation score.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4160520"/>
            <a:ext cx="3794760" cy="2240280"/>
          </a:xfrm>
          <a:prstGeom prst="roundRect">
            <a:avLst>
              <a:gd name="adj" fmla="val 2449"/>
            </a:avLst>
          </a:prstGeom>
          <a:solidFill>
            <a:srgbClr val="141C26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0" y="4343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Analyzer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47091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sliders, run threat analysis, and get a real prediction from the trained Random Forest model instantly.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 prediction &amp; analytics pages</a:t>
            </a:r>
            <a:endParaRPr lang="en-US" sz="3000" dirty="0"/>
          </a:p>
        </p:txBody>
      </p:sp>
      <p:pic>
        <p:nvPicPr>
          <p:cNvPr id="4" name="Image 0" descr="ppt_assets/analyz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486400" cy="3657600"/>
          </a:xfrm>
          <a:prstGeom prst="rect">
            <a:avLst/>
          </a:prstGeom>
        </p:spPr>
      </p:pic>
      <p:pic>
        <p:nvPicPr>
          <p:cNvPr id="5" name="Image 1" descr="ppt_assets/analyt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394960" cy="4434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Analyzer — real-time prediction with confidence &amp; risk level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 &amp; where this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10161F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82296" cy="82296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test accuracy with realistic class overlap (not artificially perfect)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035808"/>
            <a:ext cx="82296" cy="82296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44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scoring + 3-tier risk classification for triage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694176"/>
            <a:ext cx="82296" cy="82296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027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Permutation-importance explainability for model transparency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352544"/>
            <a:ext cx="82296" cy="82296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2611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live, interactive Flask web dashboard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141C26"/>
          </a:solidFill>
          <a:ln w="12700">
            <a:solidFill>
              <a:srgbClr val="222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377440"/>
            <a:ext cx="82296" cy="822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input instead of static datasets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0" y="3035808"/>
            <a:ext cx="82296" cy="822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944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real-world labeled cybersecurity datasets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3694176"/>
            <a:ext cx="82296" cy="822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6027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(LSTM) for sequential session behavior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4352544"/>
            <a:ext cx="82296" cy="822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2611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with authentication &amp; alerting integrations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EX-AI - Explainable AI-Driven User Behavior Threat Detection</dc:title>
  <dc:subject>PptxGenJS Presentation</dc:subject>
  <dc:creator>Shravya</dc:creator>
  <cp:lastModifiedBy>Shravya</cp:lastModifiedBy>
  <cp:revision>1</cp:revision>
  <dcterms:created xsi:type="dcterms:W3CDTF">2026-07-01T06:05:02Z</dcterms:created>
  <dcterms:modified xsi:type="dcterms:W3CDTF">2026-07-01T06:05:02Z</dcterms:modified>
</cp:coreProperties>
</file>